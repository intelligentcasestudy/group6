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Alexandria Semi Bold" panose="020B0604020202020204" charset="-78"/>
      <p:regular r:id="rId14"/>
    </p:embeddedFont>
    <p:embeddedFont>
      <p:font typeface="Sora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2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Predictive Maintenance on Turbofan Engines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0827860" y="4788164"/>
            <a:ext cx="2118706" cy="238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 err="1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GroupMembers</a:t>
            </a:r>
            <a:r>
              <a:rPr lang="en-US" sz="1700" b="1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: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KishanCheeramath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Dalmy John, Tomson Roy, Adithye Mathew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54975"/>
            <a:ext cx="12692301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Real-World Relevance: Revolutionizing Aviation Maintenance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58309" y="1658064"/>
            <a:ext cx="6459379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5449" y="1658064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5" name="Text 3"/>
          <p:cNvSpPr/>
          <p:nvPr/>
        </p:nvSpPr>
        <p:spPr>
          <a:xfrm>
            <a:off x="1044654" y="1875830"/>
            <a:ext cx="364152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Addressing Core Challenges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4654" y="2313384"/>
            <a:ext cx="5955268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project directly tackles the critical challenges within the aviation and aerospace sectors, focusing on optimizing operational efficiency and safety.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12593" y="1658064"/>
            <a:ext cx="6459498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9733" y="1658064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9" name="Text 7"/>
          <p:cNvSpPr/>
          <p:nvPr/>
        </p:nvSpPr>
        <p:spPr>
          <a:xfrm>
            <a:off x="7698938" y="1875830"/>
            <a:ext cx="3396139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Aligning with Industry 4.0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98938" y="2313384"/>
            <a:ext cx="5955387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Our approach integrates seamlessly with </a:t>
            </a:r>
            <a:r>
              <a:rPr lang="en-US" sz="15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Industry 4.0 trends</a:t>
            </a: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leveraging advanced analytics and AI for smarter maintenance solutions.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309" y="3661886"/>
            <a:ext cx="6459379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449" y="3661886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13" name="Text 11"/>
          <p:cNvSpPr/>
          <p:nvPr/>
        </p:nvSpPr>
        <p:spPr>
          <a:xfrm>
            <a:off x="1044654" y="3879652"/>
            <a:ext cx="4344233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High-Cost Maintenance Solutions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4654" y="4317206"/>
            <a:ext cx="5955268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By predicting failures, we aim to significantly reduce the high costs associated with traditional, reactive maintenance protocols.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12593" y="3661886"/>
            <a:ext cx="6459498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9733" y="3661886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17" name="Text 15"/>
          <p:cNvSpPr/>
          <p:nvPr/>
        </p:nvSpPr>
        <p:spPr>
          <a:xfrm>
            <a:off x="7698938" y="3879652"/>
            <a:ext cx="3286839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Sensor-Based Monitoring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98938" y="4317206"/>
            <a:ext cx="5955387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methodology employs sensor-based monitoring, accurately mirroring real-world machine data for robust predictions.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309" y="5665708"/>
            <a:ext cx="6459379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449" y="5665708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21" name="Text 19"/>
          <p:cNvSpPr/>
          <p:nvPr/>
        </p:nvSpPr>
        <p:spPr>
          <a:xfrm>
            <a:off x="1044654" y="5883473"/>
            <a:ext cx="355127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Safety-Critical Applications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44654" y="6321028"/>
            <a:ext cx="5955268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Crucially, this research contributes to enhancing safety in critical aerospace applications, preventing potential failures before they occur.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12593" y="5665708"/>
            <a:ext cx="6459498" cy="1808917"/>
          </a:xfrm>
          <a:prstGeom prst="roundRect">
            <a:avLst>
              <a:gd name="adj" fmla="val 6066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9733" y="5665708"/>
            <a:ext cx="91440" cy="1808917"/>
          </a:xfrm>
          <a:prstGeom prst="roundRect">
            <a:avLst>
              <a:gd name="adj" fmla="val 89565"/>
            </a:avLst>
          </a:prstGeom>
          <a:solidFill>
            <a:srgbClr val="1A2D7A"/>
          </a:solidFill>
          <a:ln/>
        </p:spPr>
      </p:sp>
      <p:sp>
        <p:nvSpPr>
          <p:cNvPr id="25" name="Text 23"/>
          <p:cNvSpPr/>
          <p:nvPr/>
        </p:nvSpPr>
        <p:spPr>
          <a:xfrm>
            <a:off x="7698938" y="5883473"/>
            <a:ext cx="2986802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Showcasing Modern AI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98938" y="6321028"/>
            <a:ext cx="5955387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project demonstrates the effective application of modern AI techniques, reflecting current industry practices in predictive analytics.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55082"/>
            <a:ext cx="9801344" cy="399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Methodology: A Structured Approach to Predictive Analytics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58309" y="1357432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7857" y="1670209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516499" y="1508998"/>
            <a:ext cx="244006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Setup and Data Loading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516499" y="1849398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Initiating the process with robust data ingestion and environment configuration.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8309" y="2418874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7857" y="2731651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516499" y="2570440"/>
            <a:ext cx="273903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Feature Engineering &amp; EDA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516499" y="2910840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Extracting meaningful features and conducting exploratory data analysis to uncover insights.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309" y="3480316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7857" y="3793093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516499" y="3631883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Preprocessing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16499" y="3972282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Cleaning, transforming, and preparing the data for optimal model performance.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309" y="4541758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857" y="4854535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16499" y="4693325"/>
            <a:ext cx="321183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LSTM Model Building &amp; Training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16499" y="5033724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Constructing and training the Long Short-Term Memory network for temporal sequence prediction.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8309" y="5603200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857" y="5915978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516499" y="5754767"/>
            <a:ext cx="199548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Model Evaluation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16499" y="6095167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Rigorously assessing the model's accuracy and predictive capabilities.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8309" y="6664643"/>
            <a:ext cx="606623" cy="909876"/>
          </a:xfrm>
          <a:prstGeom prst="roundRect">
            <a:avLst>
              <a:gd name="adj" fmla="val 36001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857" y="6977420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516499" y="6816209"/>
            <a:ext cx="243054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Hyperparameter Tuning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516499" y="7156609"/>
            <a:ext cx="12355592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Optimizing model parameters for peak performance and generalization.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0075"/>
            <a:ext cx="11581209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Preprocessing: Refining Raw Data for Predictive Accuracy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511022"/>
            <a:ext cx="5076349" cy="50763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34275" y="1603117"/>
            <a:ext cx="86558" cy="86558"/>
          </a:xfrm>
          <a:prstGeom prst="roundRect">
            <a:avLst>
              <a:gd name="adj" fmla="val 528201"/>
            </a:avLst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7794069" y="1511022"/>
            <a:ext cx="345483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Cleaning and Standardization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794069" y="1969413"/>
            <a:ext cx="6085642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Raw sensor data undergoes rigorous cleaning and standardization to ensure consistency and eliminate anomalies, providing a uniform input for the model.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534275" y="3239988"/>
            <a:ext cx="86558" cy="86558"/>
          </a:xfrm>
          <a:prstGeom prst="roundRect">
            <a:avLst>
              <a:gd name="adj" fmla="val 528201"/>
            </a:avLst>
          </a:prstGeom>
          <a:solidFill>
            <a:srgbClr val="1A2D7A"/>
          </a:solidFill>
          <a:ln/>
        </p:spPr>
      </p:sp>
      <p:sp>
        <p:nvSpPr>
          <p:cNvPr id="8" name="Text 5"/>
          <p:cNvSpPr/>
          <p:nvPr/>
        </p:nvSpPr>
        <p:spPr>
          <a:xfrm>
            <a:off x="7794069" y="3147893"/>
            <a:ext cx="3823930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Non-Informative Sensor Removal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94069" y="3606284"/>
            <a:ext cx="6085642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Sensors contributing little to predictive power, such as those with constant readings or high noise, are identified and removed to streamline the dataset.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34275" y="4876860"/>
            <a:ext cx="86558" cy="86558"/>
          </a:xfrm>
          <a:prstGeom prst="roundRect">
            <a:avLst>
              <a:gd name="adj" fmla="val 528201"/>
            </a:avLst>
          </a:prstGeom>
          <a:solidFill>
            <a:srgbClr val="1A2D7A"/>
          </a:solidFill>
          <a:ln/>
        </p:spPr>
      </p:sp>
      <p:sp>
        <p:nvSpPr>
          <p:cNvPr id="11" name="Text 8"/>
          <p:cNvSpPr/>
          <p:nvPr/>
        </p:nvSpPr>
        <p:spPr>
          <a:xfrm>
            <a:off x="7794069" y="4784765"/>
            <a:ext cx="409658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Sliding Window Sequence Creation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794069" y="5243155"/>
            <a:ext cx="608564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is transformed into sequential windows, allowing the model to learn temporal dependencies and patterns of degradation over time.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534275" y="6236434"/>
            <a:ext cx="86558" cy="86558"/>
          </a:xfrm>
          <a:prstGeom prst="roundRect">
            <a:avLst>
              <a:gd name="adj" fmla="val 528201"/>
            </a:avLst>
          </a:prstGeom>
          <a:solidFill>
            <a:srgbClr val="1A2D7A"/>
          </a:solidFill>
          <a:ln/>
        </p:spPr>
      </p:sp>
      <p:sp>
        <p:nvSpPr>
          <p:cNvPr id="14" name="Text 11"/>
          <p:cNvSpPr/>
          <p:nvPr/>
        </p:nvSpPr>
        <p:spPr>
          <a:xfrm>
            <a:off x="7794069" y="6144339"/>
            <a:ext cx="417171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Clipped Remaining Useful Life (RUL)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794069" y="6602730"/>
            <a:ext cx="6085642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RUL is capped at 125 cycles to focus the model on the most critical phase of degradation, preventing disproportionate influence from early, stable operational periods.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2566" y="594836"/>
            <a:ext cx="7631668" cy="96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Feature Selection: Identifying Key Indicators of Engine Health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242566" y="1836539"/>
            <a:ext cx="7631668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Effective feature selection is crucial for building accurate predictive maintenance models. By carefully choosing the most relevant sensor readings, we can enhance model performance and interpretability.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42566" y="2924294"/>
            <a:ext cx="3724037" cy="2410301"/>
          </a:xfrm>
          <a:prstGeom prst="roundRect">
            <a:avLst>
              <a:gd name="adj" fmla="val 320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33780" y="311550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A2D7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5228" y="3266956"/>
            <a:ext cx="247888" cy="247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3780" y="3850005"/>
            <a:ext cx="2451616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Correlation Analysis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433780" y="4262199"/>
            <a:ext cx="3341608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Identifying sensors with strong correlations to engine degradation and Remaining Useful Life (RUL).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150197" y="2924294"/>
            <a:ext cx="3724037" cy="2410301"/>
          </a:xfrm>
          <a:prstGeom prst="roundRect">
            <a:avLst>
              <a:gd name="adj" fmla="val 320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41412" y="3115508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A2D7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2859" y="3266956"/>
            <a:ext cx="247888" cy="247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41412" y="3850005"/>
            <a:ext cx="3205758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Dropping Constant Values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0341412" y="4262199"/>
            <a:ext cx="3341608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Eliminating sensors that exhibit invariant readings, as they provide no predictive information.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42566" y="5518190"/>
            <a:ext cx="7631668" cy="2116574"/>
          </a:xfrm>
          <a:prstGeom prst="roundRect">
            <a:avLst>
              <a:gd name="adj" fmla="val 364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33780" y="5709404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1A2D7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5228" y="5860852"/>
            <a:ext cx="247888" cy="247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33780" y="6443901"/>
            <a:ext cx="2631758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Focus on Key Sensors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433780" y="6856095"/>
            <a:ext cx="7249239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Prioritizing sensors such as s2, s3, s4, s7, s9, and s11… known for their diagnostic value.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6">
            <a:extLst>
              <a:ext uri="{FF2B5EF4-FFF2-40B4-BE49-F238E27FC236}">
                <a16:creationId xmlns:a16="http://schemas.microsoft.com/office/drawing/2014/main" id="{3187C092-FCEB-D0DC-944B-0126911931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544036"/>
              </p:ext>
            </p:extLst>
          </p:nvPr>
        </p:nvGraphicFramePr>
        <p:xfrm>
          <a:off x="973393" y="1522864"/>
          <a:ext cx="11501078" cy="4836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986">
                  <a:extLst>
                    <a:ext uri="{9D8B030D-6E8A-4147-A177-3AD203B41FA5}">
                      <a16:colId xmlns:a16="http://schemas.microsoft.com/office/drawing/2014/main" val="2124806647"/>
                    </a:ext>
                  </a:extLst>
                </a:gridCol>
                <a:gridCol w="6393392">
                  <a:extLst>
                    <a:ext uri="{9D8B030D-6E8A-4147-A177-3AD203B41FA5}">
                      <a16:colId xmlns:a16="http://schemas.microsoft.com/office/drawing/2014/main" val="1448054608"/>
                    </a:ext>
                  </a:extLst>
                </a:gridCol>
                <a:gridCol w="2683700">
                  <a:extLst>
                    <a:ext uri="{9D8B030D-6E8A-4147-A177-3AD203B41FA5}">
                      <a16:colId xmlns:a16="http://schemas.microsoft.com/office/drawing/2014/main" val="939557390"/>
                    </a:ext>
                  </a:extLst>
                </a:gridCol>
              </a:tblGrid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560347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>
                          <a:latin typeface="Sora Light" panose="020B0604020202020204" charset="0"/>
                          <a:cs typeface="Sora Light" panose="020B0604020202020204" charset="0"/>
                        </a:rPr>
                        <a:t>Load NASA C-MAPSS turbofan engine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✔️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696900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Data cleaning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Handling missing values,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✔️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858909"/>
                  </a:ext>
                </a:extLst>
              </a:tr>
              <a:tr h="794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Sequence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ora Light" panose="020B0604020202020204" charset="0"/>
                          <a:cs typeface="Sora Light" panose="020B0604020202020204" charset="0"/>
                        </a:rPr>
                        <a:t>Convert time-series into sliding windows for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⚠️ 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906560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Train/validation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ora Light" panose="020B0604020202020204" charset="0"/>
                          <a:cs typeface="Sora Light" panose="020B0604020202020204" charset="0"/>
                        </a:rPr>
                        <a:t>Splitting the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✔️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011323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Baseline ML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RF for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✔️ 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079365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LSTM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Multi-layer LSTM with 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⚠️ 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051486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Hyperparameter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ora Light" panose="020B0604020202020204" charset="0"/>
                          <a:cs typeface="Sora Light" panose="020B0604020202020204" charset="0"/>
                        </a:rPr>
                        <a:t>Batch size, LR, window size tuning</a:t>
                      </a:r>
                      <a:endParaRPr lang="en-IN" dirty="0">
                        <a:latin typeface="Sora Light" panose="020B0604020202020204" charset="0"/>
                        <a:cs typeface="Sora Ligh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⚠️ 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0597978"/>
                  </a:ext>
                </a:extLst>
              </a:tr>
              <a:tr h="460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Sora Light" panose="020B0604020202020204" charset="0"/>
                          <a:cs typeface="Sora Light" panose="020B0604020202020204" charset="0"/>
                        </a:rPr>
                        <a:t>Model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Sora Light" panose="020B0604020202020204" charset="0"/>
                          <a:cs typeface="Sora Light" panose="020B0604020202020204" charset="0"/>
                        </a:rPr>
                        <a:t>RMSE, MAE, RUL prediction accuracy</a:t>
                      </a:r>
                      <a:endParaRPr lang="en-IN" dirty="0">
                        <a:latin typeface="Sora Light" panose="020B0604020202020204" charset="0"/>
                        <a:cs typeface="Sora Light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Sora Light" panose="020B0604020202020204" charset="0"/>
                          <a:cs typeface="Sora Light" panose="020B0604020202020204" charset="0"/>
                        </a:rPr>
                        <a:t>⚠️ Pending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4478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A45381D-C097-60C7-D37C-D0C2904F4F73}"/>
              </a:ext>
            </a:extLst>
          </p:cNvPr>
          <p:cNvSpPr txBox="1"/>
          <p:nvPr/>
        </p:nvSpPr>
        <p:spPr>
          <a:xfrm>
            <a:off x="973393" y="599694"/>
            <a:ext cx="7315200" cy="51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Feature </a:t>
            </a:r>
            <a:r>
              <a:rPr lang="en-US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Progress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8953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5552"/>
            <a:ext cx="123495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Limitations of Baseline Models: The Need for Advanced Techniques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58309" y="1408271"/>
            <a:ext cx="1311378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machine learning models often fall short when dealing with the complex temporal dynamics of engine degradation. Their inability to process sequential information necessitates more sophisticated approaches.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52675"/>
            <a:ext cx="5076349" cy="50763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34275" y="2352675"/>
            <a:ext cx="6345436" cy="1682472"/>
          </a:xfrm>
          <a:prstGeom prst="roundRect">
            <a:avLst>
              <a:gd name="adj" fmla="val 432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30371" y="2548771"/>
            <a:ext cx="331898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 Sequence Understanding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730371" y="3007162"/>
            <a:ext cx="5953244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Baseline models treat each data point independently, failing to capture the chronological order and dependencies vital for degradation prediction.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534275" y="4208383"/>
            <a:ext cx="6345436" cy="1405176"/>
          </a:xfrm>
          <a:prstGeom prst="roundRect">
            <a:avLst>
              <a:gd name="adj" fmla="val 5181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30371" y="4404479"/>
            <a:ext cx="397990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Inadequate Degradation Modeling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730371" y="4862870"/>
            <a:ext cx="5953244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They cannot effectively model the subtle, progressive changes that indicate engine wear over extended periods.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534275" y="5786795"/>
            <a:ext cx="6345436" cy="1405176"/>
          </a:xfrm>
          <a:prstGeom prst="roundRect">
            <a:avLst>
              <a:gd name="adj" fmla="val 5181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30371" y="5982891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Lack of Memory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730371" y="6441281"/>
            <a:ext cx="5953244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Without a mechanism to retain past information, these models struggle to identify evolving patterns of engine health.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73179"/>
            <a:ext cx="10012918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Why LSTM? The Power of Sequential Learning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58309" y="1626275"/>
            <a:ext cx="13113782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Long Short-Term Memory (LSTM) networks are uniquely suited for predictive maintenance due to their inherent ability to process and remember sequences of data, making them ideal for modeling complex degradation patterns.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16386"/>
            <a:ext cx="6556891" cy="823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4049" y="3545324"/>
            <a:ext cx="3485436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Sequence Understanding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4049" y="4007287"/>
            <a:ext cx="614541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Unlike traditional models, LSTMs excel at understanding and leveraging the chronological order of sensor readings.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16386"/>
            <a:ext cx="6556891" cy="8231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0940" y="3545324"/>
            <a:ext cx="4113848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Time-Dependent Degradation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520940" y="4007287"/>
            <a:ext cx="614541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They can effectively model how engine components degrade over time, capturing nuanced changes.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871680"/>
            <a:ext cx="6556891" cy="8231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049" y="5900618"/>
            <a:ext cx="3459718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Memory for Maintenance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964049" y="6362581"/>
            <a:ext cx="614541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LSTMs possess internal memory states, crucial for tracking cumulative wear and predicting future failures.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71680"/>
            <a:ext cx="6556891" cy="8231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0940" y="5900618"/>
            <a:ext cx="279011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Robustness to Noise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520940" y="6362581"/>
            <a:ext cx="6145411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Their architecture allows them to perform well even with clipped RUL and noisy real-world data, providing reliable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191" y="451961"/>
            <a:ext cx="11757065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LSTM for Intelligent Temporal Modeling: Unlocking Deeper Insights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75191" y="1562219"/>
            <a:ext cx="6539508" cy="1558647"/>
          </a:xfrm>
          <a:prstGeom prst="roundRect">
            <a:avLst>
              <a:gd name="adj" fmla="val 7040"/>
            </a:avLst>
          </a:prstGeom>
          <a:solidFill>
            <a:srgbClr val="FFFAFA"/>
          </a:solidFill>
          <a:ln/>
        </p:spPr>
      </p:sp>
      <p:sp>
        <p:nvSpPr>
          <p:cNvPr id="4" name="Shape 2"/>
          <p:cNvSpPr/>
          <p:nvPr/>
        </p:nvSpPr>
        <p:spPr>
          <a:xfrm>
            <a:off x="575191" y="1539359"/>
            <a:ext cx="6539508" cy="91440"/>
          </a:xfrm>
          <a:prstGeom prst="roundRect">
            <a:avLst>
              <a:gd name="adj" fmla="val 75497"/>
            </a:avLst>
          </a:prstGeom>
          <a:solidFill>
            <a:srgbClr val="1A2D7A"/>
          </a:solidFill>
          <a:ln/>
        </p:spPr>
      </p:sp>
      <p:sp>
        <p:nvSpPr>
          <p:cNvPr id="5" name="Shape 3"/>
          <p:cNvSpPr/>
          <p:nvPr/>
        </p:nvSpPr>
        <p:spPr>
          <a:xfrm>
            <a:off x="3598366" y="1315760"/>
            <a:ext cx="493038" cy="493038"/>
          </a:xfrm>
          <a:prstGeom prst="roundRect">
            <a:avLst>
              <a:gd name="adj" fmla="val 185462"/>
            </a:avLst>
          </a:prstGeom>
          <a:solidFill>
            <a:srgbClr val="1A2D7A"/>
          </a:solidFill>
          <a:ln/>
        </p:spPr>
      </p:sp>
      <p:sp>
        <p:nvSpPr>
          <p:cNvPr id="6" name="Text 4"/>
          <p:cNvSpPr/>
          <p:nvPr/>
        </p:nvSpPr>
        <p:spPr>
          <a:xfrm>
            <a:off x="3746242" y="1438989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2357" y="1973104"/>
            <a:ext cx="2162651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Sequence 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2357" y="2407682"/>
            <a:ext cx="6165175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LSTMs inherently learn from sequences of data points over extended periods, enabling them to understand the progression of engine health.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5191" y="3531632"/>
            <a:ext cx="6539508" cy="1558647"/>
          </a:xfrm>
          <a:prstGeom prst="roundRect">
            <a:avLst>
              <a:gd name="adj" fmla="val 7040"/>
            </a:avLst>
          </a:prstGeom>
          <a:solidFill>
            <a:srgbClr val="FF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575191" y="3508772"/>
            <a:ext cx="6539508" cy="91440"/>
          </a:xfrm>
          <a:prstGeom prst="roundRect">
            <a:avLst>
              <a:gd name="adj" fmla="val 75497"/>
            </a:avLst>
          </a:prstGeom>
          <a:solidFill>
            <a:srgbClr val="1A2D7A"/>
          </a:solidFill>
          <a:ln/>
        </p:spPr>
      </p:sp>
      <p:sp>
        <p:nvSpPr>
          <p:cNvPr id="11" name="Shape 9"/>
          <p:cNvSpPr/>
          <p:nvPr/>
        </p:nvSpPr>
        <p:spPr>
          <a:xfrm>
            <a:off x="3598366" y="3285173"/>
            <a:ext cx="493038" cy="493038"/>
          </a:xfrm>
          <a:prstGeom prst="roundRect">
            <a:avLst>
              <a:gd name="adj" fmla="val 185462"/>
            </a:avLst>
          </a:prstGeom>
          <a:solidFill>
            <a:srgbClr val="1A2D7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6242" y="3408402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2357" y="3942517"/>
            <a:ext cx="3216473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Degradation Pattern Memory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2357" y="4377095"/>
            <a:ext cx="6165175" cy="526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They can effectively memorize and recognize complex degradation patterns, providing a more accurate assessment of an engine's condition.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5191" y="5501045"/>
            <a:ext cx="6539508" cy="1821656"/>
          </a:xfrm>
          <a:prstGeom prst="roundRect">
            <a:avLst>
              <a:gd name="adj" fmla="val 6024"/>
            </a:avLst>
          </a:prstGeom>
          <a:solidFill>
            <a:srgbClr val="FF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75191" y="5478185"/>
            <a:ext cx="6539508" cy="91440"/>
          </a:xfrm>
          <a:prstGeom prst="roundRect">
            <a:avLst>
              <a:gd name="adj" fmla="val 75497"/>
            </a:avLst>
          </a:prstGeom>
          <a:solidFill>
            <a:srgbClr val="1A2D7A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8366" y="5254585"/>
            <a:ext cx="493038" cy="493038"/>
          </a:xfrm>
          <a:prstGeom prst="roundRect">
            <a:avLst>
              <a:gd name="adj" fmla="val 185462"/>
            </a:avLst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3746242" y="5377815"/>
            <a:ext cx="19716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2357" y="5911929"/>
            <a:ext cx="293882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Realistic Health Reasoning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2357" y="6346508"/>
            <a:ext cx="6165175" cy="789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By considering the historical context of sensor data, LSTMs offer a more realistic and nuanced understanding of engine health compared to models without memory.</a:t>
            </a:r>
            <a:endParaRPr lang="en-US" sz="12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321" y="1315760"/>
            <a:ext cx="6539508" cy="65395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019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08722"/>
            <a:ext cx="7748349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Risk &amp; Ethics in Predictive Maintenance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58309" y="3869531"/>
            <a:ext cx="131137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While predictive maintenance offers significant advantages, it also introduces critical considerations regarding safety, data integrity, and the ethical implications of AI deployment.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58309" y="4666059"/>
            <a:ext cx="13113782" cy="2756773"/>
          </a:xfrm>
          <a:prstGeom prst="roundRect">
            <a:avLst>
              <a:gd name="adj" fmla="val 280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929" y="4673679"/>
            <a:ext cx="6549271" cy="1370767"/>
          </a:xfrm>
          <a:prstGeom prst="roundRect">
            <a:avLst>
              <a:gd name="adj" fmla="val 5643"/>
            </a:avLst>
          </a:prstGeom>
          <a:solidFill>
            <a:srgbClr val="D5DCF6"/>
          </a:solidFill>
          <a:ln/>
        </p:spPr>
      </p:sp>
      <p:sp>
        <p:nvSpPr>
          <p:cNvPr id="7" name="Text 4"/>
          <p:cNvSpPr/>
          <p:nvPr/>
        </p:nvSpPr>
        <p:spPr>
          <a:xfrm>
            <a:off x="950000" y="4857750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Safety Criticality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50000" y="5271016"/>
            <a:ext cx="590490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Erroneous predictions could lead to catastrophic safety failures in highly regulated industries like aerospace.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15200" y="4673679"/>
            <a:ext cx="6549271" cy="1370767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0" y="4673679"/>
            <a:ext cx="22860" cy="1370767"/>
          </a:xfrm>
          <a:prstGeom prst="roundRect">
            <a:avLst>
              <a:gd name="adj" fmla="val 338357"/>
            </a:avLst>
          </a:prstGeom>
          <a:solidFill>
            <a:srgbClr val="BBC2DC"/>
          </a:solidFill>
          <a:ln/>
        </p:spPr>
      </p:sp>
      <p:sp>
        <p:nvSpPr>
          <p:cNvPr id="11" name="Text 8"/>
          <p:cNvSpPr/>
          <p:nvPr/>
        </p:nvSpPr>
        <p:spPr>
          <a:xfrm>
            <a:off x="7775496" y="4857750"/>
            <a:ext cx="2767489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Synthetic Dataset Bias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75496" y="5271016"/>
            <a:ext cx="590490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Reliance on synthetic data may introduce biases, potentially limiting real-world applicability and accuracy.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085052" y="5128855"/>
            <a:ext cx="460296" cy="460296"/>
          </a:xfrm>
          <a:prstGeom prst="roundRect">
            <a:avLst>
              <a:gd name="adj" fmla="val 1680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067" y="5243870"/>
            <a:ext cx="230148" cy="2301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5929" y="6044446"/>
            <a:ext cx="6549271" cy="1370767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16" name="Shape 12"/>
          <p:cNvSpPr/>
          <p:nvPr/>
        </p:nvSpPr>
        <p:spPr>
          <a:xfrm>
            <a:off x="765929" y="6044446"/>
            <a:ext cx="6549271" cy="22860"/>
          </a:xfrm>
          <a:prstGeom prst="roundRect">
            <a:avLst>
              <a:gd name="adj" fmla="val 338357"/>
            </a:avLst>
          </a:prstGeom>
          <a:solidFill>
            <a:srgbClr val="BBC2DC"/>
          </a:solidFill>
          <a:ln/>
        </p:spPr>
      </p:sp>
      <p:sp>
        <p:nvSpPr>
          <p:cNvPr id="17" name="Text 13"/>
          <p:cNvSpPr/>
          <p:nvPr/>
        </p:nvSpPr>
        <p:spPr>
          <a:xfrm>
            <a:off x="950000" y="6228517"/>
            <a:ext cx="312027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Explainability Challenges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950000" y="6641783"/>
            <a:ext cx="590490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"black box" nature of LSTMs can make it difficult to explain specific predictions, impacting trust and accountability.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6044446"/>
            <a:ext cx="6549271" cy="1370767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315200" y="6044446"/>
            <a:ext cx="22860" cy="1370767"/>
          </a:xfrm>
          <a:prstGeom prst="roundRect">
            <a:avLst>
              <a:gd name="adj" fmla="val 338357"/>
            </a:avLst>
          </a:prstGeom>
          <a:solidFill>
            <a:srgbClr val="BBC2DC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0" y="6044446"/>
            <a:ext cx="6549271" cy="22860"/>
          </a:xfrm>
          <a:prstGeom prst="roundRect">
            <a:avLst>
              <a:gd name="adj" fmla="val 338357"/>
            </a:avLst>
          </a:prstGeom>
          <a:solidFill>
            <a:srgbClr val="BBC2DC"/>
          </a:solidFill>
          <a:ln/>
        </p:spPr>
      </p:sp>
      <p:sp>
        <p:nvSpPr>
          <p:cNvPr id="22" name="Text 18"/>
          <p:cNvSpPr/>
          <p:nvPr/>
        </p:nvSpPr>
        <p:spPr>
          <a:xfrm>
            <a:off x="7775496" y="6228517"/>
            <a:ext cx="370379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Necessity of Human Oversight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7775496" y="6641783"/>
            <a:ext cx="5904905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Human expertise and judgment remain indispensable for validating predictions and intervening when necessary.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7085052" y="6499622"/>
            <a:ext cx="460296" cy="460296"/>
          </a:xfrm>
          <a:prstGeom prst="roundRect">
            <a:avLst>
              <a:gd name="adj" fmla="val 1680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067" y="6614636"/>
            <a:ext cx="230148" cy="230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890349"/>
            <a:ext cx="7627382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Issues Faced: Overcoming Challenges in Development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58309" y="2135743"/>
            <a:ext cx="76273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Developing a robust predictive maintenance system presents several technical hurdles that require innovative solutions and meticulous attention to detail.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932271"/>
            <a:ext cx="920710" cy="11866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63090" y="2932271"/>
            <a:ext cx="310479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Long CPU Running Times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863090" y="3345537"/>
            <a:ext cx="652260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Initial development on CPUs led to prohibitive processing times; mitigated by transitioning to GPU acceleration for LSTM training.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303038"/>
            <a:ext cx="920710" cy="14813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63090" y="4303038"/>
            <a:ext cx="393465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Non-Uniform Sequence Lengths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863090" y="4716304"/>
            <a:ext cx="6522601" cy="88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Managing varying cycle lengths in time series data posed a significant challenge for consistent model input, requiring careful padding or truncation strategies.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968484"/>
            <a:ext cx="920710" cy="11866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63090" y="5968484"/>
            <a:ext cx="2707719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Missing Sensor Values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863090" y="6381750"/>
            <a:ext cx="652260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presence of missing sensor values initially caused preprocessing errors, necessitating robust imputation or handling strategies.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1094</Words>
  <Application>Microsoft Office PowerPoint</Application>
  <PresentationFormat>Custom</PresentationFormat>
  <Paragraphs>136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Alexandria Semi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DALMY JOHN</cp:lastModifiedBy>
  <cp:revision>4</cp:revision>
  <dcterms:created xsi:type="dcterms:W3CDTF">2025-11-26T20:36:30Z</dcterms:created>
  <dcterms:modified xsi:type="dcterms:W3CDTF">2025-11-27T09:16:12Z</dcterms:modified>
</cp:coreProperties>
</file>