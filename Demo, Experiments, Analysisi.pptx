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3" r:id="rId9"/>
    <p:sldId id="266" r:id="rId10"/>
  </p:sldIdLst>
  <p:sldSz cx="18288000" cy="10287000"/>
  <p:notesSz cx="6858000" cy="9144000"/>
  <p:embeddedFontLst>
    <p:embeddedFont>
      <p:font typeface="Barlow Bold" panose="020B0604020202020204" charset="0"/>
      <p:regular r:id="rId11"/>
    </p:embeddedFont>
    <p:embeddedFont>
      <p:font typeface="Cambria Math" panose="02040503050406030204" pitchFamily="18" charset="0"/>
      <p:regular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Bold" panose="00000800000000000000" pitchFamily="2" charset="0"/>
      <p:regular r:id="rId17"/>
      <p:bold r:id="rId18"/>
    </p:embeddedFont>
    <p:embeddedFont>
      <p:font typeface="TT Rounds Condensed" panose="020B0604020202020204" charset="0"/>
      <p:regular r:id="rId19"/>
    </p:embeddedFont>
    <p:embeddedFont>
      <p:font typeface="TT Rounds Condensed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7200900" cy="10287000"/>
          </a:xfrm>
          <a:custGeom>
            <a:avLst/>
            <a:gdLst/>
            <a:ahLst/>
            <a:cxnLst/>
            <a:rect l="l" t="t" r="r" b="b"/>
            <a:pathLst>
              <a:path w="7200900" h="102870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805890" y="1176538"/>
            <a:ext cx="9534230" cy="165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1" dirty="0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Predictive Maintenance of Jet Engines Using Sensor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5400" y="5185525"/>
            <a:ext cx="8961120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b="1" spc="-13" dirty="0">
                <a:solidFill>
                  <a:srgbClr val="0D0D0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Industrial Problem:</a:t>
            </a:r>
            <a:r>
              <a:rPr lang="en-US" sz="2400" spc="-13" dirty="0">
                <a:solidFill>
                  <a:srgbClr val="0D0D0D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Due to unexpected breakdown, shutdown occurs and it increase huge financial loss.</a:t>
            </a:r>
            <a:endParaRPr lang="en-US" sz="2400" spc="-13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15400" y="4004178"/>
            <a:ext cx="8961120" cy="88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b="1" spc="-13" dirty="0">
                <a:solidFill>
                  <a:srgbClr val="0D0D0D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Goal:</a:t>
            </a:r>
            <a:r>
              <a:rPr lang="en-US" sz="2400" spc="-13" dirty="0">
                <a:solidFill>
                  <a:srgbClr val="0D0D0D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Predict jet engine failures before they occur using deep learning to enable proactive maintenance.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25600" y="7355243"/>
            <a:ext cx="3550920" cy="1734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800" b="1" spc="-13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Group Members:</a:t>
            </a:r>
          </a:p>
          <a:p>
            <a:pPr marL="441325" algn="l">
              <a:lnSpc>
                <a:spcPts val="2699"/>
              </a:lnSpc>
            </a:pPr>
            <a:r>
              <a:rPr lang="en-US" sz="2800" spc="-13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Kishan </a:t>
            </a:r>
            <a:r>
              <a:rPr lang="en-US" sz="2800" spc="-13" dirty="0" err="1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Cheeramath</a:t>
            </a:r>
            <a:endParaRPr lang="en-US" sz="2800" spc="-13" dirty="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441325" algn="l">
              <a:lnSpc>
                <a:spcPts val="2699"/>
              </a:lnSpc>
            </a:pPr>
            <a:r>
              <a:rPr lang="en-US" sz="2800" spc="-13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2800" spc="-13" dirty="0" err="1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Dalmy</a:t>
            </a:r>
            <a:r>
              <a:rPr lang="en-US" sz="2800" spc="-13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John</a:t>
            </a:r>
          </a:p>
          <a:p>
            <a:pPr marL="441325" algn="l">
              <a:lnSpc>
                <a:spcPts val="2699"/>
              </a:lnSpc>
            </a:pPr>
            <a:r>
              <a:rPr lang="en-US" sz="2800" spc="-13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Tomson Roy</a:t>
            </a:r>
          </a:p>
          <a:p>
            <a:pPr marL="441325" algn="l">
              <a:lnSpc>
                <a:spcPts val="2699"/>
              </a:lnSpc>
            </a:pPr>
            <a:r>
              <a:rPr lang="en-US" sz="2800" spc="-13" dirty="0" err="1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Adithye</a:t>
            </a:r>
            <a:r>
              <a:rPr lang="en-US" sz="2800" spc="-13" dirty="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Mathew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08717" y="537715"/>
            <a:ext cx="6205090" cy="618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4000" b="1" spc="-22" dirty="0">
                <a:solidFill>
                  <a:srgbClr val="2E3C4E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Data Inputs and Assumptions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5230" y="1831875"/>
            <a:ext cx="3521970" cy="323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3200" b="1" spc="-15" dirty="0">
                <a:solidFill>
                  <a:srgbClr val="2E3C4E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Dataset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2940" y="2485156"/>
            <a:ext cx="10264083" cy="852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39328" lvl="1" indent="-169664" algn="l">
              <a:lnSpc>
                <a:spcPts val="2249"/>
              </a:lnSpc>
              <a:buFont typeface="Arial"/>
              <a:buChar char="•"/>
            </a:pPr>
            <a:r>
              <a:rPr lang="en-US" sz="2400" spc="-13" dirty="0">
                <a:solidFill>
                  <a:srgbClr val="384653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Multivariate time-series sensor data from simulated turbofan engines.</a:t>
            </a:r>
          </a:p>
          <a:p>
            <a:pPr marL="339328" lvl="1" indent="-169664" algn="l">
              <a:lnSpc>
                <a:spcPts val="2249"/>
              </a:lnSpc>
              <a:buFont typeface="Arial"/>
              <a:buChar char="•"/>
            </a:pPr>
            <a:endParaRPr lang="en-US" sz="2400" spc="-13" dirty="0">
              <a:solidFill>
                <a:srgbClr val="384653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339328" lvl="1" indent="-169664" algn="l">
              <a:lnSpc>
                <a:spcPts val="2249"/>
              </a:lnSpc>
              <a:buFont typeface="Arial"/>
              <a:buChar char="•"/>
            </a:pPr>
            <a:r>
              <a:rPr lang="en-US" sz="2400" spc="-13" dirty="0">
                <a:solidFill>
                  <a:srgbClr val="384653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We are using NASA- CMAPPS dataset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3800" y="3740144"/>
            <a:ext cx="14759883" cy="288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39328" lvl="1" indent="-169664" algn="l">
              <a:lnSpc>
                <a:spcPts val="2249"/>
              </a:lnSpc>
              <a:buFont typeface="Arial"/>
              <a:buChar char="•"/>
            </a:pPr>
            <a:r>
              <a:rPr lang="en-US" sz="2400" spc="-13" dirty="0">
                <a:solidFill>
                  <a:srgbClr val="384653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Includes three operational settings and 21 sensor measurements, capturing comprehensive engine performance data.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3800" y="4470445"/>
            <a:ext cx="13287860" cy="288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39328" lvl="1" indent="-169664" algn="l">
              <a:lnSpc>
                <a:spcPts val="2249"/>
              </a:lnSpc>
              <a:buFont typeface="Arial"/>
              <a:buChar char="•"/>
            </a:pPr>
            <a:r>
              <a:rPr lang="en-US" sz="2400" spc="-13" dirty="0">
                <a:solidFill>
                  <a:srgbClr val="384653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Provided with pre-defined training, testing, and true RUL labels for model development and validation.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1216" y="5823109"/>
            <a:ext cx="12979641" cy="2749382"/>
          </a:xfrm>
          <a:custGeom>
            <a:avLst/>
            <a:gdLst/>
            <a:ahLst/>
            <a:cxnLst/>
            <a:rect l="l" t="t" r="r" b="b"/>
            <a:pathLst>
              <a:path w="12979641" h="2749382">
                <a:moveTo>
                  <a:pt x="0" y="0"/>
                </a:moveTo>
                <a:lnTo>
                  <a:pt x="12979642" y="0"/>
                </a:lnTo>
                <a:lnTo>
                  <a:pt x="12979642" y="2749382"/>
                </a:lnTo>
                <a:lnTo>
                  <a:pt x="0" y="2749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301358" y="5743194"/>
            <a:ext cx="4603613" cy="2829306"/>
          </a:xfrm>
          <a:custGeom>
            <a:avLst/>
            <a:gdLst/>
            <a:ahLst/>
            <a:cxnLst/>
            <a:rect l="l" t="t" r="r" b="b"/>
            <a:pathLst>
              <a:path w="4603613" h="2829306">
                <a:moveTo>
                  <a:pt x="0" y="0"/>
                </a:moveTo>
                <a:lnTo>
                  <a:pt x="4603613" y="0"/>
                </a:lnTo>
                <a:lnTo>
                  <a:pt x="4603613" y="2829306"/>
                </a:lnTo>
                <a:lnTo>
                  <a:pt x="0" y="2829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16942" y="899798"/>
            <a:ext cx="6857999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4000" b="1" spc="-18" dirty="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Flow Chart  – Algorithm +Simulation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7993BD-11FC-65ED-5CCB-113B75D3D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47"/>
          <a:stretch>
            <a:fillRect/>
          </a:stretch>
        </p:blipFill>
        <p:spPr>
          <a:xfrm>
            <a:off x="6172200" y="647700"/>
            <a:ext cx="8305800" cy="93872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769438" y="824841"/>
            <a:ext cx="8679361" cy="629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1" dirty="0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Model Outputs and Performance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989" y="2224601"/>
            <a:ext cx="2748258" cy="35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3200" b="1" dirty="0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Key Outputs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102" y="2795963"/>
            <a:ext cx="811976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Predicted Remaining Useful Life:</a:t>
            </a: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A numerical value indicating the estimated operational time left for each engine.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8"/>
              <p:cNvSpPr txBox="1"/>
              <p:nvPr/>
            </p:nvSpPr>
            <p:spPr>
              <a:xfrm>
                <a:off x="671251" y="4098202"/>
                <a:ext cx="8119767" cy="13336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245070" lvl="1" indent="-122535" algn="l">
                  <a:lnSpc>
                    <a:spcPts val="2625"/>
                  </a:lnSpc>
                  <a:buFont typeface="Arial"/>
                  <a:buChar char="•"/>
                </a:pPr>
                <a:r>
                  <a:rPr lang="en-US" sz="2400" b="1" dirty="0">
                    <a:solidFill>
                      <a:srgbClr val="38465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Comparison Analysis:</a:t>
                </a:r>
                <a:r>
                  <a:rPr lang="en-US" sz="2400" dirty="0">
                    <a:solidFill>
                      <a:srgbClr val="38465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Direct comparison between predicted RUL values and actual observed RUL for validation.</a:t>
                </a:r>
              </a:p>
              <a:p>
                <a:pPr marL="245070" lvl="1" indent="-122535" algn="l">
                  <a:lnSpc>
                    <a:spcPts val="2625"/>
                  </a:lnSpc>
                  <a:buFont typeface="Arial"/>
                  <a:buChar char="•"/>
                </a:pPr>
                <a:r>
                  <a:rPr lang="en-US" sz="2400" dirty="0">
                    <a:solidFill>
                      <a:srgbClr val="38465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Runtime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3846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"/>
                        <a:sym typeface="Montserrat"/>
                      </a:rPr>
                      <m:t>≈</m:t>
                    </m:r>
                  </m:oMath>
                </a14:m>
                <a:r>
                  <a:rPr lang="en-US" sz="2400" dirty="0">
                    <a:solidFill>
                      <a:srgbClr val="38465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5 min</a:t>
                </a:r>
              </a:p>
            </p:txBody>
          </p:sp>
        </mc:Choice>
        <mc:Fallback>
          <p:sp>
            <p:nvSpPr>
              <p:cNvPr id="8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51" y="4098202"/>
                <a:ext cx="8119767" cy="1333698"/>
              </a:xfrm>
              <a:prstGeom prst="rect">
                <a:avLst/>
              </a:prstGeom>
              <a:blipFill>
                <a:blip r:embed="rId3"/>
                <a:stretch>
                  <a:fillRect l="-601" t="-9132" r="-2102" b="-132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9"/>
          <p:cNvSpPr txBox="1"/>
          <p:nvPr/>
        </p:nvSpPr>
        <p:spPr>
          <a:xfrm>
            <a:off x="870333" y="6122370"/>
            <a:ext cx="342156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3200" b="1" dirty="0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Evaluation Metrics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9438" y="6773041"/>
            <a:ext cx="811976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Root Mean Squared Error (RMSE):</a:t>
            </a: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Quantifies the accuracy of predictions, indicating the average magnitude of the errors.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0030" y="8083882"/>
            <a:ext cx="811976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5070" lvl="1" indent="-122535" algn="l">
              <a:lnSpc>
                <a:spcPts val="2625"/>
              </a:lnSpc>
              <a:buFont typeface="Arial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Prediction Deviation:</a:t>
            </a: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Measures the spread of predictions relative to actual values, highlighting consistency.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629573-60AC-F5B0-3261-ACB7B833A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21" y="1291533"/>
            <a:ext cx="8492333" cy="81191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Freeform 5" descr="preencoded.png">
            <a:hlinkClick r:id="rId5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6" name="Picture 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947890" y="1154163"/>
            <a:ext cx="9730235" cy="74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Comparison with Baseline Approaches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7890" y="1954711"/>
            <a:ext cx="1639223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7"/>
              </a:lnSpc>
            </a:pPr>
            <a:r>
              <a:rPr lang="en-US" sz="2400" dirty="0"/>
              <a:t>LSTM is superior because it can learn long-term temporal degradation patterns from sequential sensor data, which Random Forest cannot model inherently.</a:t>
            </a:r>
            <a:endParaRPr lang="en-US" sz="2400" dirty="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B8441C-D467-9ED1-F3D6-CE4397DA4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93550"/>
              </p:ext>
            </p:extLst>
          </p:nvPr>
        </p:nvGraphicFramePr>
        <p:xfrm>
          <a:off x="3048000" y="4457700"/>
          <a:ext cx="12192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289505382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990603928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Models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RMSE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194137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Random Forest Regressor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41.47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67734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LSTM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24.04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539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19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 descr="preencoded.png"/>
          <p:cNvSpPr/>
          <p:nvPr/>
        </p:nvSpPr>
        <p:spPr>
          <a:xfrm>
            <a:off x="0" y="0"/>
            <a:ext cx="18288000" cy="2460727"/>
          </a:xfrm>
          <a:custGeom>
            <a:avLst/>
            <a:gdLst/>
            <a:ahLst/>
            <a:cxnLst/>
            <a:rect l="l" t="t" r="r" b="b"/>
            <a:pathLst>
              <a:path w="18288000" h="2460727">
                <a:moveTo>
                  <a:pt x="0" y="0"/>
                </a:moveTo>
                <a:lnTo>
                  <a:pt x="18288000" y="0"/>
                </a:lnTo>
                <a:lnTo>
                  <a:pt x="18288000" y="2460727"/>
                </a:lnTo>
                <a:lnTo>
                  <a:pt x="0" y="246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" r="-6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37470" y="3051572"/>
            <a:ext cx="698733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4400" b="1" dirty="0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Model Validation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2BA16-B234-D419-73FD-B143A9EF631C}"/>
              </a:ext>
            </a:extLst>
          </p:cNvPr>
          <p:cNvSpPr txBox="1"/>
          <p:nvPr/>
        </p:nvSpPr>
        <p:spPr>
          <a:xfrm>
            <a:off x="1524000" y="4018802"/>
            <a:ext cx="1463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Validation is performed by testing the trained model on unseen engines and comparing predicted RUL with true RUL 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DEDD1-4F44-3066-F88D-15AC1CC9A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907540"/>
            <a:ext cx="10852176" cy="492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91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Freeform 5" descr="preencoded.png">
            <a:hlinkClick r:id="rId3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 descr="preencoded.png"/>
          <p:cNvSpPr/>
          <p:nvPr/>
        </p:nvSpPr>
        <p:spPr>
          <a:xfrm>
            <a:off x="11087100" y="0"/>
            <a:ext cx="7200900" cy="10287000"/>
          </a:xfrm>
          <a:custGeom>
            <a:avLst/>
            <a:gdLst/>
            <a:ahLst/>
            <a:cxnLst/>
            <a:rect l="l" t="t" r="r" b="b"/>
            <a:pathLst>
              <a:path w="7200900" h="102870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47890" y="826446"/>
            <a:ext cx="9534230" cy="6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Key Deliverables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890" y="3619500"/>
            <a:ext cx="994871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 RUL Prediction Pipeline:</a:t>
            </a: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A fully functional system for predicting engine Remaining Useful Life.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90" y="4686300"/>
            <a:ext cx="10139210" cy="4847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Condition-Based Maintenance Support:</a:t>
            </a: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Provides critical data for optimizing maintenance schedules, moving from reactive to proactive strategies.</a:t>
            </a:r>
          </a:p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endParaRPr lang="en-US" sz="2400" dirty="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 with clear indications with critical, warning and healthy conditions.</a:t>
            </a:r>
          </a:p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endParaRPr lang="en-US" sz="2400" dirty="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The three-tier system mirrors real maintenance protocols:</a:t>
            </a:r>
          </a:p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endParaRPr lang="en-US" sz="2400" dirty="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CRITICAL (&lt; 30 cycles): Ground the aircraft immediately, schedule emergency maintenance.</a:t>
            </a:r>
          </a:p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WARNING (30–80 cycles): Plan maintenance within the next mission cycle.</a:t>
            </a:r>
          </a:p>
          <a:p>
            <a:pPr marL="254496" lvl="1" indent="-127248" algn="l">
              <a:lnSpc>
                <a:spcPts val="2687"/>
              </a:lnSpc>
              <a:buFont typeface="Arial"/>
              <a:buChar char="•"/>
            </a:pPr>
            <a:r>
              <a:rPr lang="en-US" sz="2400" dirty="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HEALTHY (&gt; 80 cycles): Continue normal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3352800" y="2857500"/>
            <a:ext cx="11091939" cy="2840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Model validated only on </a:t>
            </a:r>
            <a:r>
              <a:rPr lang="en-US" altLang="en-US" sz="2400" b="1" dirty="0">
                <a:latin typeface="Arial" panose="020B0604020202020204" pitchFamily="34" charset="0"/>
              </a:rPr>
              <a:t>FD001 dataset</a:t>
            </a:r>
            <a:r>
              <a:rPr lang="en-US" altLang="en-US" sz="2400" dirty="0">
                <a:latin typeface="Arial" panose="020B0604020202020204" pitchFamily="34" charset="0"/>
              </a:rPr>
              <a:t> (single operating condition).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Performance depends on </a:t>
            </a:r>
            <a:r>
              <a:rPr lang="en-US" altLang="en-US" sz="2400" b="1" dirty="0">
                <a:latin typeface="Arial" panose="020B0604020202020204" pitchFamily="34" charset="0"/>
              </a:rPr>
              <a:t>quality and consistency of sensor data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Limited interpretability of deep learning predictions.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Real-time deployment aspects not addressed.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131238E-2195-4ADA-5B9A-3630F2FBDE19}"/>
              </a:ext>
            </a:extLst>
          </p:cNvPr>
          <p:cNvSpPr txBox="1"/>
          <p:nvPr/>
        </p:nvSpPr>
        <p:spPr>
          <a:xfrm>
            <a:off x="2971800" y="1028700"/>
            <a:ext cx="953423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62"/>
              </a:lnSpc>
            </a:pPr>
            <a:r>
              <a:rPr lang="en-IN" sz="4800" b="1" dirty="0"/>
              <a:t>Limitations</a:t>
            </a:r>
            <a:endParaRPr lang="en-US" sz="4437" b="1" dirty="0">
              <a:solidFill>
                <a:srgbClr val="2E3C4E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</p:spTree>
    <p:extLst>
      <p:ext uri="{BB962C8B-B14F-4D97-AF65-F5344CB8AC3E}">
        <p14:creationId xmlns:p14="http://schemas.microsoft.com/office/powerpoint/2010/main" val="243676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381</Words>
  <Application>Microsoft Office PowerPoint</Application>
  <PresentationFormat>Custom</PresentationFormat>
  <Paragraphs>50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Montserrat Bold</vt:lpstr>
      <vt:lpstr>Montserrat</vt:lpstr>
      <vt:lpstr>Barlow Bold</vt:lpstr>
      <vt:lpstr>TT Rounds Condensed</vt:lpstr>
      <vt:lpstr>TT Rounds Condensed Bold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Geethu Mathew</cp:lastModifiedBy>
  <cp:revision>4</cp:revision>
  <dcterms:created xsi:type="dcterms:W3CDTF">2006-08-16T00:00:00Z</dcterms:created>
  <dcterms:modified xsi:type="dcterms:W3CDTF">2025-12-17T23:56:41Z</dcterms:modified>
  <dc:identifier>DAG7zoa4pLA</dc:identifier>
</cp:coreProperties>
</file>